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66744670344a70" /><Relationship Type="http://schemas.openxmlformats.org/officeDocument/2006/relationships/extended-properties" Target="/docProps/app.xml" Id="R965a354f32764c82" /><Relationship Type="http://schemas.openxmlformats.org/officeDocument/2006/relationships/officeDocument" Target="/ppt/presentation.xml" Id="R45528cb4abb8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b740fc4ca541ec"/>
  </p:sldMasterIdLst>
  <p:notesMasterIdLst>
    <p:notesMasterId xmlns:r="http://schemas.openxmlformats.org/officeDocument/2006/relationships" r:id="R007965a2215a496c"/>
  </p:notesMasterIdLst>
  <p:sldIdLst>
    <p:sldId xmlns:r="http://schemas.openxmlformats.org/officeDocument/2006/relationships" id="256" r:id="R607e2dd9d53f40f0"/>
    <p:sldId xmlns:r="http://schemas.openxmlformats.org/officeDocument/2006/relationships" id="257" r:id="R7a9eb1fb45a44ec2"/>
    <p:sldId xmlns:r="http://schemas.openxmlformats.org/officeDocument/2006/relationships" id="258" r:id="R6bf9fa22029b4cda"/>
    <p:sldId xmlns:r="http://schemas.openxmlformats.org/officeDocument/2006/relationships" id="259" r:id="Rcd42a219453744ee"/>
    <p:sldId xmlns:r="http://schemas.openxmlformats.org/officeDocument/2006/relationships" id="260" r:id="R3cffb4eae1504d56"/>
    <p:sldId xmlns:r="http://schemas.openxmlformats.org/officeDocument/2006/relationships" id="261" r:id="Ra36ddbcce19746cd"/>
    <p:sldId xmlns:r="http://schemas.openxmlformats.org/officeDocument/2006/relationships" id="262" r:id="Rf2db1e9b05ec4cfa"/>
    <p:sldId xmlns:r="http://schemas.openxmlformats.org/officeDocument/2006/relationships" id="263" r:id="R308a2035095c44ab"/>
    <p:sldId xmlns:r="http://schemas.openxmlformats.org/officeDocument/2006/relationships" id="264" r:id="R9feeeb5210dc4288"/>
    <p:sldId xmlns:r="http://schemas.openxmlformats.org/officeDocument/2006/relationships" id="265" r:id="R4ada268217274a6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740fc4ca541ec" /><Relationship Type="http://schemas.openxmlformats.org/officeDocument/2006/relationships/theme" Target="/ppt/theme/theme1.xml" Id="Rbd71754f6a364dc1" /><Relationship Type="http://schemas.openxmlformats.org/officeDocument/2006/relationships/notesMaster" Target="/ppt/notesMasters/notesMaster1.xml" Id="R007965a2215a496c" /><Relationship Type="http://schemas.openxmlformats.org/officeDocument/2006/relationships/presProps" Target="/ppt/presProps.xml" Id="R6cebccf2c4094ee7" /><Relationship Type="http://schemas.openxmlformats.org/officeDocument/2006/relationships/viewProps" Target="/ppt/viewProps.xml" Id="R5701458fdf944c56" /><Relationship Type="http://schemas.openxmlformats.org/officeDocument/2006/relationships/tableStyles" Target="/ppt/tableStyles.xml" Id="R3151cff9cf1748ac" /><Relationship Type="http://schemas.openxmlformats.org/officeDocument/2006/relationships/slide" Target="/ppt/slides/slide1.xml" Id="R607e2dd9d53f40f0" /><Relationship Type="http://schemas.openxmlformats.org/officeDocument/2006/relationships/slide" Target="/ppt/slides/slide2.xml" Id="R7a9eb1fb45a44ec2" /><Relationship Type="http://schemas.openxmlformats.org/officeDocument/2006/relationships/slide" Target="/ppt/slides/slide3.xml" Id="R6bf9fa22029b4cda" /><Relationship Type="http://schemas.openxmlformats.org/officeDocument/2006/relationships/slide" Target="/ppt/slides/slide4.xml" Id="Rcd42a219453744ee" /><Relationship Type="http://schemas.openxmlformats.org/officeDocument/2006/relationships/slide" Target="/ppt/slides/slide5.xml" Id="R3cffb4eae1504d56" /><Relationship Type="http://schemas.openxmlformats.org/officeDocument/2006/relationships/slide" Target="/ppt/slides/slide6.xml" Id="Ra36ddbcce19746cd" /><Relationship Type="http://schemas.openxmlformats.org/officeDocument/2006/relationships/slide" Target="/ppt/slides/slide7.xml" Id="Rf2db1e9b05ec4cfa" /><Relationship Type="http://schemas.openxmlformats.org/officeDocument/2006/relationships/slide" Target="/ppt/slides/slide8.xml" Id="R308a2035095c44ab" /><Relationship Type="http://schemas.openxmlformats.org/officeDocument/2006/relationships/slide" Target="/ppt/slides/slide9.xml" Id="R9feeeb5210dc4288" /><Relationship Type="http://schemas.openxmlformats.org/officeDocument/2006/relationships/slide" Target="/ppt/slides/slide10.xml" Id="R4ada268217274a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4e73f2027ab4e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32b1f9e308416a" /><Relationship Type="http://schemas.openxmlformats.org/officeDocument/2006/relationships/notesMaster" Target="/ppt/notesMasters/notesMaster1.xml" Id="R3564d8b88d9b4d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1f4e3916cd4071" /><Relationship Type="http://schemas.openxmlformats.org/officeDocument/2006/relationships/notesMaster" Target="/ppt/notesMasters/notesMaster1.xml" Id="Rf3cf65eabe7944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5d224fd3194909" /><Relationship Type="http://schemas.openxmlformats.org/officeDocument/2006/relationships/notesMaster" Target="/ppt/notesMasters/notesMaster1.xml" Id="Rb95e8351cc2c42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0cd1d231d14714" /><Relationship Type="http://schemas.openxmlformats.org/officeDocument/2006/relationships/notesMaster" Target="/ppt/notesMasters/notesMaster1.xml" Id="R42f181c7210440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6f497adccd4ec0" /><Relationship Type="http://schemas.openxmlformats.org/officeDocument/2006/relationships/notesMaster" Target="/ppt/notesMasters/notesMaster1.xml" Id="R45befc9089974d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9b9353b3644b3f" /><Relationship Type="http://schemas.openxmlformats.org/officeDocument/2006/relationships/notesMaster" Target="/ppt/notesMasters/notesMaster1.xml" Id="Rc771dc9b313f4d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d17ae4b61d469b" /><Relationship Type="http://schemas.openxmlformats.org/officeDocument/2006/relationships/notesMaster" Target="/ppt/notesMasters/notesMaster1.xml" Id="R5097b2ff2f7648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864fb8bfe94b6a" /><Relationship Type="http://schemas.openxmlformats.org/officeDocument/2006/relationships/notesMaster" Target="/ppt/notesMasters/notesMaster1.xml" Id="Rb48e1eabe53f4b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94856326e14dbd" /><Relationship Type="http://schemas.openxmlformats.org/officeDocument/2006/relationships/notesMaster" Target="/ppt/notesMasters/notesMaster1.xml" Id="Rcf20544a370841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5b4c30b10c49c3" /><Relationship Type="http://schemas.openxmlformats.org/officeDocument/2006/relationships/notesMaster" Target="/ppt/notesMasters/notesMaster1.xml" Id="Rb7aa6b13b4964a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3a3d405a7474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42446e70bbe492c" /><Relationship Type="http://schemas.openxmlformats.org/officeDocument/2006/relationships/slideLayout" Target="/ppt/slideLayouts/slideLayout2.xml" Id="R98ab5bf638674a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ab5bf638674a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e5ac6bf63f4e6a" /><Relationship Type="http://schemas.openxmlformats.org/officeDocument/2006/relationships/notesSlide" Target="/ppt/notesSlides/notesSlide1.xml" Id="R9e9d2571f32a48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fb189df2c24a84" /><Relationship Type="http://schemas.openxmlformats.org/officeDocument/2006/relationships/notesSlide" Target="/ppt/notesSlides/notesSlide2.xml" Id="R9c8af3c39ca048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670cdb25dd4ebd" /><Relationship Type="http://schemas.openxmlformats.org/officeDocument/2006/relationships/notesSlide" Target="/ppt/notesSlides/notesSlide3.xml" Id="R195edd6f4fca48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574dd6e33f452c" /><Relationship Type="http://schemas.openxmlformats.org/officeDocument/2006/relationships/notesSlide" Target="/ppt/notesSlides/notesSlide4.xml" Id="R84d29c2953554a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52163245fc406a" /><Relationship Type="http://schemas.openxmlformats.org/officeDocument/2006/relationships/notesSlide" Target="/ppt/notesSlides/notesSlide5.xml" Id="Rbd7dbf0d527f46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0828fb27ec45b1" /><Relationship Type="http://schemas.openxmlformats.org/officeDocument/2006/relationships/notesSlide" Target="/ppt/notesSlides/notesSlide6.xml" Id="Rc7df2c571fed4f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04302881d14161" /><Relationship Type="http://schemas.openxmlformats.org/officeDocument/2006/relationships/notesSlide" Target="/ppt/notesSlides/notesSlide7.xml" Id="Rd0e05446cec44a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dd5367f09742ab" /><Relationship Type="http://schemas.openxmlformats.org/officeDocument/2006/relationships/notesSlide" Target="/ppt/notesSlides/notesSlide8.xml" Id="Rcc4ad5e279ce48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5b25892d83469b" /><Relationship Type="http://schemas.openxmlformats.org/officeDocument/2006/relationships/notesSlide" Target="/ppt/notesSlides/notesSlide9.xml" Id="Rfc0b189b0f5144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882137002443a5" /><Relationship Type="http://schemas.openxmlformats.org/officeDocument/2006/relationships/notesSlide" Target="/ppt/notesSlides/notesSlide10.xml" Id="R38e9ff88134847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26844-2809-4455-9050-5FBF391B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0118C-E349-4526-AEA9-65AADD10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61719-F78E-47C5-A7F3-D477F590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ED01A-07C3-46B1-BCFF-8671FB4C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905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Turning NFL PBP Predictor into a live-game prediction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A785C-7DAF-4161-B308-7AFB87B0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A practical roadmap for real-time data sources, architecture, model risk, and implementation trade-offs.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65BDB-611F-48D5-AA78-189DE105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31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E5BD0-3FEE-4384-BDA0-8927ECF9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1085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Django + DRF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82DBA-70F1-4460-90ED-2CB00FA1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86100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FA7B0-9F0D-4730-8C85-A58936FC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527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React/Webpack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0E818-3A3E-4A8A-96F7-7E4FDB64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86100"/>
            <a:ext cx="1600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9ADAB-7098-4E26-875F-6F555FFC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52775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99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994E"/>
                </a:solidFill>
                <a:latin typeface="Aptos"/>
                <a:ea typeface="Aptos"/>
                <a:cs typeface="Aptos"/>
              </a:rPr>
              <a:t>Team RF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886B3-1897-48EC-8224-06F117A4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861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AB235-6B68-4272-8E3D-2994B98E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527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88C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8C24"/>
                </a:solidFill>
                <a:latin typeface="Aptos"/>
                <a:ea typeface="Aptos"/>
                <a:cs typeface="Aptos"/>
              </a:rPr>
              <a:t>Live Provider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C9CC4-4BDE-4697-9E83-C29B1DBB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81050"/>
            <a:ext cx="29908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8F983-DDD1-45A4-9265-29D0B66E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190625"/>
            <a:ext cx="2305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8"/>
          </a:solidFill>
          <a:ln xmlns:a="http://schemas.openxmlformats.org/drawingml/2006/main" w="9525">
            <a:solidFill>
              <a:srgbClr val="4B58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349CE-B743-470B-9582-73A116CE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906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DFA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DFAE5"/>
                </a:solidFill>
                <a:latin typeface="Aptos"/>
                <a:ea typeface="Aptos"/>
                <a:cs typeface="Aptos"/>
              </a:rPr>
              <a:t>LIVE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FB10E-DDFA-4AB7-B181-E1D73917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57350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3rd &amp; 6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Q4 02:13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KC -2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 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783E6-8804-4533-86AF-3B9AC44C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2305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A9C81-8250-4DC9-AAA4-B08B21B7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146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3B15B4-7371-4112-ACE7-4CE0766B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1885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PASS 64%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31A16-F936-42F4-A53C-C1BB4A36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05250"/>
            <a:ext cx="2314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9D82A5-6B9F-434C-8507-78530B8B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71925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predict next snap, then reconcile actual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8E904-B83B-4885-A57B-A74DA24C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83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8397"/>
                </a:solidFill>
                <a:latin typeface="Aptos"/>
                <a:ea typeface="Aptos"/>
                <a:cs typeface="Aptos"/>
              </a:rPr>
              <a:t>NFL PBP Predictor live-data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EA34F-1E99-49B2-A91E-77375C6B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33314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C5A7FA-2B12-44E1-9161-29DBBEB7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89CE2-5661-42C0-B255-9B452FEA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98C92-BF1E-4FA9-8B16-6D118B8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18C4A-5269-46F6-BB81-8D3F1F04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CURRENT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F745F-58CC-48A6-94DE-4451B0EA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app predicts historical rows; live games require a different operating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F9561-B5B7-4A24-9FDA-A0A900EF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Today, the backend expects a selected Play record already seeded from offline CSVs.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6A2EC-15D9-443E-B63F-E3DC3410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1F948-6209-4716-9039-02E9F13F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Offline CSVs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A7720-9E65-43A6-9FD8-F95CA445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nflfastR-style historical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641CF-34B3-41F0-8B7E-E2CD757A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9F0D5-2E43-4D44-94E4-9D8C413D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622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8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491B9-8800-4DA7-A15F-5F662D99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527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Seeded DB 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48B21-D9B9-4D8E-AE3A-2EE7D7D0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14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user chooses an existing 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DC336-1EA2-488B-8DA2-D6E3B294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813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7C721-8795-44E5-8612-C7721D1A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622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D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68A42-CC02-478C-82E3-9EFD5774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527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Feature rebuild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687C9-2C23-43AE-B689-1CCBF1A8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14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one-hot + reindex to saved feature 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F992A-D6B4-45D8-B352-18676237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813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6BA3A-1D97-462D-890F-6398FB8B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9D2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5B11F-EBC5-4372-8C7A-B4CDCB1D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Team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6B19C-EB8C-48D5-B64D-E1AD5621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joblib model returns class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F150C-843A-4D14-AC9D-5B3A7410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 version needs the same prediction capability, but fed by provider state that changes every few seconds and may be corrected after the fact.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57E62-056D-4F93-ADE7-98BABB67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83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8397"/>
                </a:solidFill>
                <a:latin typeface="Aptos"/>
                <a:ea typeface="Aptos"/>
                <a:cs typeface="Aptos"/>
              </a:rPr>
              <a:t>NFL PBP Predictor live-data 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DE73DC-BCE8-43C4-98D6-A812509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92199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0B1E9D-F135-4FCD-ACB0-24DE4332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AC414-F17F-4ED7-A1F1-FD124B43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CB9DC-941F-411B-893E-8975DC92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5B5A6-BFB6-40B1-BA2E-D71CDF66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TARGET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1B32D-EE77-4112-BEE6-B0A96A4D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Add a live ingestion layer between provider feeds and your existing inference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E2F18-6B29-4CD2-9095-31D18FF4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Store raw payloads, normalize into a common play state, predict the next snap, then reconcile with the actual play.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C1EE2-B521-46B2-8EBF-7519B54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5CE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07844-DD8E-4843-BB20-F0B4FADE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Provider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7D6FB-7E43-4D86-9296-6A29E1AA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Sportradar, SportsDataIO, ESPN, or manual operator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59267-9EE9-44A6-999F-0E06200E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76575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3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0367C-3078-49FE-8207-55116F09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5CE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6C57B-D04C-4EDC-826E-1422EC7D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00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Adapter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416F4-D1F0-4DF9-AECD-3C2200AF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004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Provider-specific parsing and ID mapping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7537D-5BC4-4A71-A203-CF4A9102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76575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3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255D1-9329-49F8-9CFB-064FEEBB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8"/>
          </a:solidFill>
          <a:ln xmlns:a="http://schemas.openxmlformats.org/drawingml/2006/main" w="9525">
            <a:solidFill>
              <a:srgbClr val="C5CE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87A3D-2F22-4D5A-AB0B-E1AE680A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Normalizer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B1525-2CFC-454E-9275-7D0A9A2B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04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Common game/play state matching model needs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9B97DE-BE0F-4FF7-9D29-8B2C930A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76575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3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083DD-020D-455E-8762-56B1D33A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D"/>
          </a:solidFill>
          <a:ln xmlns:a="http://schemas.openxmlformats.org/drawingml/2006/main" w="9525">
            <a:solidFill>
              <a:srgbClr val="C5CE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1ECF9-F2CA-46A9-9C79-6406D7DC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00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Predictor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1AE7C-CA71-491A-8179-B3EBB1FE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004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Feature builder + team model + saved feature 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CBD25-AF69-4961-93DE-AFF87472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76575"/>
            <a:ext cx="5143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3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7CA5B-FEC1-427B-9A6E-B1952DE8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71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C5CE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97AFCA-9265-4F10-B5B4-98D40EB8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003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 UI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0AAE0-7227-4BD0-BCE7-8A6E8BCA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00400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Current state, probabilities, history, accuracy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9BFE72-B295-44FE-BFD1-580D4D16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86300"/>
            <a:ext cx="962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B8C6F1-5395-4F34-AA16-EB61BEE8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76800"/>
            <a:ext cx="904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Design principle: keep historical Play rows separate from LivePlay at first. That preserves training assumptions while you validate live schemas and correction behavior.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F2AA4F-6619-4222-B3E9-2EBD7CA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83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8397"/>
                </a:solidFill>
                <a:latin typeface="Aptos"/>
                <a:ea typeface="Aptos"/>
                <a:cs typeface="Aptos"/>
              </a:rPr>
              <a:t>NFL PBP Predictor live-data 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058063-6D24-4A6F-BB92-90E35161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57575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9B3BE3-D2A2-4780-AF99-F1F3B1D9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DFF68-07F0-4CC2-BAC6-4F88D027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E5BCC-7177-4C9A-8E31-B1306B1B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47803-CC48-4821-9A35-C95E4FC4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SOURCE OPTIONS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361FD-E864-4BFD-9A79-3FE7301C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There are five viable paths, but only two are serious live-data 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291C8-23B1-405A-AB49-24DB0BBD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The right choice depends on whether this stays a hobby demo or becomes a reliable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99127-CDD1-488A-9B38-CD556C17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Option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56C8A-FD06-4A60-998A-4D46E121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28850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Best For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E0CFA-A67E-4120-B53A-EA5101F2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2885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Upside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71D19-0969-49BD-B059-E2983A26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288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3A56B-7FB4-478F-82D2-79A5B420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288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E3CA8-E261-4A2C-A1DC-E3F982FD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201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BFB41-9778-48B8-A3EE-3E3DC092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955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Sportradar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970CF-FBD4-4C61-A77A-9E509187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6860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production option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238C7-A76B-4201-B424-FB8C24BB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574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Official-style NFL PBP, strong reliability, push feeds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7473A-74DB-4E99-AA16-EE777050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574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Paid, licensing constraints, schema mapping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E1B86-6E46-4A11-A9A9-D3D9A0CA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95575"/>
            <a:ext cx="876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1F87A-61C5-48C0-8C74-A299ABC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11201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3A63B-0E15-4CA5-89AD-B553A3F5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432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SportsDataIO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10EE7-25DA-458B-A338-05547D28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337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Fastest practical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76C63-B816-497F-9F8E-B55A2227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051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Clear live timing docs, replay/trial useful for development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C158A-7C09-473C-8DB7-A56145BF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051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Paid for real-time, may lack deeper football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69878-4C54-43FE-A634-A2A0CF27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43275"/>
            <a:ext cx="876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362B8-F2DB-4C31-8EA6-A2E40353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1201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899525-CA0F-4A1A-AA84-6B8F2651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09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Public ESPN-like APIs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9D62A5-00C7-49FC-9AE7-5F4F9D8A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814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Free hobby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CC7CB-254A-4A3C-BB2B-5FAC569B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528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Quick to experiment with, no vendor contract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20F1D-41B3-4033-8F36-F4329B00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528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Undocumented, fragile, data-quality and terms risk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1A97C3-F5A0-43A8-883E-453739D3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90975"/>
            <a:ext cx="876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39E9A8-04E5-4135-B6C0-DF3B73AC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11201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7220-54E0-4971-8AD5-5D992AE0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386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Manual live input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A3ABBA-ED72-47DD-90BC-7347784F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291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Phase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354012-71CF-4DC6-A6E1-813F7DC3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005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Builds UX and inference flow without provider cost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7EC0E0-80F8-4850-845D-CAED55E2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005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Human operated, not scalable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D3147F-1BAD-41CB-9504-27DFA6A1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38675"/>
            <a:ext cx="876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2EA952-0254-485E-9C3D-6BECAC73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24450"/>
            <a:ext cx="11201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75EC44-162B-43AC-95C0-F58AADA0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Browser scraping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2D42FB-0E42-42AB-94C7-80B0E363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768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Avoid except tinkering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D40426-6CDE-4D44-83EB-F86BDE1C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48275"/>
            <a:ext cx="276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Can sometimes see gamecast text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B3A877-9C02-4945-B2AC-DAA27214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482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Fragile, terms risk, hard parsing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0D3748-D3E6-47E4-894C-423D011B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286375"/>
            <a:ext cx="876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C7705F-9317-4535-ABD7-5A99DF2D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49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495"/>
                </a:solidFill>
                <a:latin typeface="Aptos"/>
                <a:ea typeface="Aptos"/>
                <a:cs typeface="Aptos"/>
              </a:rPr>
              <a:t>Sources: Sportradar NFL Game Play-by-Play docs; SportsDataIO real-time refresh and NFL workflow docs; nflverse/nflfastR docs.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EA4BA9-F2E6-484A-B239-2791917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83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8397"/>
                </a:solidFill>
                <a:latin typeface="Aptos"/>
                <a:ea typeface="Aptos"/>
                <a:cs typeface="Aptos"/>
              </a:rPr>
              <a:t>NFL PBP Predictor live-data plan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343EF4-859E-4C94-8D47-C3A82E81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32379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47E1B2-BAF6-4A7E-B898-CEDFCAA5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FF081-DE67-4540-B04E-BE385747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0B126-4F64-483B-94C6-A0345184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3C964-9278-41E9-B1D6-E869764D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DECISION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462CD-0417-4030-AAA6-76E47F24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Pick the source based on proof needed now, not the source you might need later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19D30-912D-4A02-B095-647E354E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A provider interface lets you start cheap and swap data backends when the product deserves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33E51-7B21-42D2-8627-58B11747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13E25-7AE9-4F04-9B12-ED36B567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Recommended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68C36-64CB-47B6-9CCC-5879BBB9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275DC-723F-47CA-B984-D7C873E9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E9664-BFEE-42DF-B859-FC0DB643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86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Manual live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DBD8A-B855-484F-A118-4E68C232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432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prove UX + prediction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63EA8-EAC6-400F-A501-FE1755D2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B3915-4532-4EA9-B965-0A9EE6ED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BF7CE-A214-41D1-B702-5742D78D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719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SportsDataIO replay/trial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60074-B1B3-454E-9FBF-A25AED69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290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exercise ingestion outside Sundays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36EBD-311A-4774-84D6-0F1B7C2D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CD6D8-8B5D-4999-BC5C-E84AE3F1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B9253-8290-42D4-823C-A023AD5F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57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Sportradar or paid SportsDataIO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D306EB-8428-464A-95C5-EA15D9BF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148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graduate if reliability/licensing matter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35DEC-F973-42C3-B4B4-039F6C00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241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A7B2B-0CA7-4E4D-B720-6A29092D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How the options 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AAF79-DA4A-4C96-B232-ACCACF17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Production reliability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B15848-9F57-41D7-B882-C99F97F6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B9DF3-DD9F-413D-A920-073CA86E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1350"/>
            <a:ext cx="166497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42305E-634B-4260-9998-5A04C863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Prototype speed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0818D8-656B-4B1C-8B2A-55DBA700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78F26B-BA16-4A23-98CB-5DD88030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38550"/>
            <a:ext cx="155638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177155-5790-4622-A500-B5541BAC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Lowest cost now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BEBE20-A422-4A47-855D-82BF557F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12F845-E177-4834-9461-830FAADE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170116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774ABC-3865-4402-8B45-568F32AC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Lowest fragility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1A9C0E-60A9-4A04-968D-71261336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5295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42EE6B-3DEF-4AEB-A391-F0F9409B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52950"/>
            <a:ext cx="542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5D15C4-5687-454C-B634-01D50045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146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Best: Sportradar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C2E3BF-F27A-44BC-A660-E66D2DFD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718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Best: SportsDataIO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101C72-7072-41BB-9A95-301572F5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290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Best: Manual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2571EA-E105-4BC4-A83E-2DD3E05C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Avoid: scraping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E78F53-6ADD-4C58-902B-E5C50C16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83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8397"/>
                </a:solidFill>
                <a:latin typeface="Aptos"/>
                <a:ea typeface="Aptos"/>
                <a:cs typeface="Aptos"/>
              </a:rPr>
              <a:t>NFL PBP Predictor live-data plan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68F374-05C8-4C7E-B055-1C26AE4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59346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AEAB13-C0DC-4E31-8FC0-A472F27E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B7DE8-F6BA-4A4B-A6BB-58ECA6EB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A5DC5-210D-493D-8764-92CAC2E9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DF826-7B3F-4B42-BD3E-A16E2C06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MODEL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73932-7E37-41AD-9289-BF273F79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hard part is making live provider state mean the same thing as training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B7AAC-E116-4A0A-9612-DCDBCEDC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Your model is only as live-ready as the pre-snap features you can reconstruct before the next snap.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2BCEA-121D-4ACB-BF97-7787C7C6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9E7"/>
          </a:solidFill>
          <a:ln xmlns:a="http://schemas.openxmlformats.org/drawingml/2006/main" w="9525">
            <a:solidFill>
              <a:srgbClr val="E9C8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7C97F-E66E-4DBC-B151-C8E1629C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4453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C44536"/>
                </a:solidFill>
                <a:latin typeface="Aptos"/>
                <a:ea typeface="Aptos"/>
                <a:cs typeface="Aptos"/>
              </a:rPr>
              <a:t>Feature leakage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1BFF3-36B6-4932-8F0A-0AF51FEB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Some historical columns may be fully known only after a play is logged. For true pre-snap prediction, every feature must be known before the snap.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A60B6-4514-417E-B036-D8B7237B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D"/>
          </a:solidFill>
          <a:ln xmlns:a="http://schemas.openxmlformats.org/drawingml/2006/main" w="9525">
            <a:solidFill>
              <a:srgbClr val="EAD0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B5DAE-FAA5-424D-82D8-AD12114E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88C2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88C24"/>
                </a:solidFill>
                <a:latin typeface="Aptos"/>
                <a:ea typeface="Aptos"/>
                <a:cs typeface="Aptos"/>
              </a:rPr>
              <a:t>Schema mismatch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45151-98F7-4351-986E-8448767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432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nflfastR, Sportradar, SportsDataIO, and ESPN will disagree on IDs, yardline semantics, play classification, corrections, and timing.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73EC8-E3B1-4CAE-BAA3-01BA0D96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9D9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C2EDD-DA88-4142-82A4-BAA651A2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860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Latency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561E8-6C75-4871-AC8A-57D6F587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 PBP often arrives after the play. The reliable pattern is to process play N, then predict play N+1 using the updated state.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8A202-EF3B-42AD-806F-EDDEE4AC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721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Mitigation: backtest by replaying historical games as a live stream and proving the feature builder never uses post-snap information.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F6D85-AF82-48BD-A325-BA3F296E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83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8397"/>
                </a:solidFill>
                <a:latin typeface="Aptos"/>
                <a:ea typeface="Aptos"/>
                <a:cs typeface="Aptos"/>
              </a:rPr>
              <a:t>NFL PBP Predictor live-data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252A5-FE2C-4E2F-854D-7A578021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23036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EC455-6837-4CC5-A7D7-94E17767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8AED7-7944-4D71-BDC7-96D281B6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CD033-F084-49C2-83BC-5CFDAC8B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4D947-DF67-4AD5-8C5E-2C550B48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IMPLEMENTATION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FA8AD-9147-4BA9-BD0F-9F3C7E99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Build the live product in six phases so each phase proves a specific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35BDD-FDF2-4EDB-95F5-FC033125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The sequence keeps model, data, backend, and frontend risk separated.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AB939-7F71-47D8-ACB2-F16C0A2B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485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0688F-86E2-4FE6-AB3E-B135A85D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3CFB2-F776-4A51-9060-04498F5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1940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AC95E-9D0E-4715-8943-6DB836AA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1638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18185-605E-4554-97BB-2ED118AC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Extract prediction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C8E4A6-637E-436D-BC9A-54692AC1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Reusable feature dict → model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313C2-81EE-4040-AF32-BE9ACF10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1485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09AD7-09D1-4BD2-BF60-60994BBB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AEB62-5906-4180-9BA3-1DF3D404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1940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E982F-A841-479A-BD45-7A121440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90900"/>
            <a:ext cx="1638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1469D-1AD2-4457-9A50-3A56AEBE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81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Manual live mode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18F29-0B2A-493A-9D88-536D276E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386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Prove pre-snap UX without vendor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D7069-8294-4A33-BE0D-4D8FB95F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1485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3FBB16-56B3-4617-926A-828E692A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E4F0BC-7D28-4D41-86DD-F29539C3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1940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C87813-FEA1-411C-811C-EA90CBBD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90900"/>
            <a:ext cx="1638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78C34-2B4E-4772-90B8-74411161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81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Provider abstraction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1201A3-F504-42F5-8DB4-D1890BB3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386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Common LiveDataProvider interface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604EB-17C8-480B-9221-4A045E2B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1485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62723-3B50-4EDE-ADA4-D9EBA22B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4381B2-FD50-465B-9D65-AD1E575A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1940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F362D5-8679-43AC-9E9D-B2118BE7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90900"/>
            <a:ext cx="1638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E0106-BBC3-4BAE-8E5C-E38A3536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81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Background ingestion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2EEB5D-AB5F-4B12-BA9B-A64126D3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Poll or push; raw + normalized storage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EAE2DF-82F4-4079-A638-5D732DE2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485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9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8B72A9-05C0-44C3-BE1A-36546525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9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B308A8-D22B-4D3C-8564-03EB37D8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1940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0F737E-7EA2-4B8D-B691-E006D993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90900"/>
            <a:ext cx="1638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5D988B-851A-4788-BEB0-8CBF60C7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 frontend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1DE443-48E2-4EE4-B3E0-CD55CC6F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386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Active games, probabilities, history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2DC098-BABA-45AA-800B-45CDC77F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86100"/>
            <a:ext cx="1485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62665E-89F0-42A2-9E02-18E0298A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24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4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CC571F-D2BD-479A-82A1-DF69B285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819400"/>
            <a:ext cx="133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ABC504-88C1-4979-B835-6F5DF0C5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90900"/>
            <a:ext cx="1638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2DEBCB-5388-4080-AE42-0CE82A3C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81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Replay backtests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7D4D95-212F-4C6F-B0F8-D1DD0053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38600"/>
            <a:ext cx="1295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Detect leakage and calibrate confidence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FB40D7-A0DD-47F7-9F51-98B6BB23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Do not retrain first. First make the current team-specific models callable from live-style inputs, then prove whether their inputs are trustworthy.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1E92849-7AD8-4E0A-800A-FDD7331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83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8397"/>
                </a:solidFill>
                <a:latin typeface="Aptos"/>
                <a:ea typeface="Aptos"/>
                <a:cs typeface="Aptos"/>
              </a:rPr>
              <a:t>NFL PBP Predictor live-data plan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F8C4C8-425B-4C44-8C64-51195C69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360000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C3CF93-3B86-4DD2-9F79-B7E91A09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90D2F-384A-4D4F-8FEA-28DBEBF9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46A2A-D539-465E-B836-B0EC2401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6F84B-F2C3-43A0-A4C3-6BAA93D2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BACKEND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B5AE1-9302-4516-956A-DBEA89C0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Add live models and APIs without disturbing the historical training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51196-4952-4275-8919-200E3466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Keep raw provider payloads for debugging; normalize only the fields your prediction service needs.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A2733-8383-46BA-876E-C57C83DD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143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C8D2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96B13-196E-46DA-9CCD-477BA864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CFBB5-BC11-42BB-914D-42C6892D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8855A-6E91-4A19-B193-5A4886DC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LiveGame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27080-4192-40FF-9ED2-2635C460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9936E-B678-4099-A1CB-742741B3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861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D2A73-FF8B-43B3-B846-5B88EEE7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B61F2-E12F-40D0-959F-7442FE53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LivePrediction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555F0-438E-46AF-8E42-B79385D8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69307-8D6B-4872-91E8-5933BC37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Provider raw_payload + normalized_payload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B9473-370B-4928-A178-C9839DE2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3143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8D2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734AA-A583-4855-B3A8-CFB01EC6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0EA05-B5F3-4480-B9B5-F970317C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37468-DF45-4E48-B857-C65CC292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861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core/services/prediction.py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DC288-D6A2-4BED-9844-002794FC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9E1CD-9477-46C1-B078-24455A59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live_data/providers/*.py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894F2-4CEA-4C5E-8F98-5E5334FF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BF632-DA4A-4C13-A7AB-9A553456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862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normalizer.py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29CC5-2D1A-43CC-ADC8-DD2E8495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EA7E7-9FA5-43E1-8A27-C526B57E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862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feature_builder.py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9CA20-3B38-4CFD-B4E2-EA840729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3143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8"/>
          </a:solidFill>
          <a:ln xmlns:a="http://schemas.openxmlformats.org/drawingml/2006/main" w="9525">
            <a:solidFill>
              <a:srgbClr val="C8D2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C008B-E870-4340-A022-94152ACD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A994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A994E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61C9D0-23A8-42BB-810C-9937443C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638AF-EC61-4206-8F23-71E4D655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861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GET /api/live/games/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790977-500E-4BEC-8421-A19DA9B8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B66889-818D-4C85-A028-C64D729A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GET /api/live/games/&lt;id&gt;/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CDA722-7EC5-42BA-90A6-604886A0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5A451D-82B3-4055-A369-47FD26B5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862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GET /api/live/games/&lt;id&gt;/predictions/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C9D2BC-C762-43BD-8185-A8618958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B12BC4-2D63-4452-AF31-24083AE8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862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POST /api/live/sync/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5ACE44-5505-4D2E-AD9F-69C2B69F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62600"/>
            <a:ext cx="918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Also fix model paths with settings.BASE_DIR / "saved_team_models" so inference does not depend on launching Django from the nested directory.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8EF767-A623-4323-B827-E88BD6F5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83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8397"/>
                </a:solidFill>
                <a:latin typeface="Aptos"/>
                <a:ea typeface="Aptos"/>
                <a:cs typeface="Aptos"/>
              </a:rPr>
              <a:t>NFL PBP Predictor live-data plan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F5A2A3-742D-4830-9F4B-821429CF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675329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42A3FF-8DF3-4EBE-8418-5261D40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148CC-F6FA-4FA7-9D8B-0390212F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C9005-A69F-4659-B946-B81CFB7B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EC099-4C76-49AC-B72A-566DDF05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LIVE 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A1E9B-E2FC-4DC7-8A9F-952A84F3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Start with polling; upgrade to WebSockets only when the page earns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19DE0-695B-4B02-9BE1-2CD9FC37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The first screen should make the current game state, prediction, and result history scannable.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6B308-D0BF-4139-AE3D-2CABF4C0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40957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283CD-73E0-4931-AF2D-00B12C94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KC @ BUF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46AFD-8336-4DAB-A63B-6C84196A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0E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FD0E4"/>
                </a:solidFill>
                <a:latin typeface="Aptos"/>
                <a:ea typeface="Aptos"/>
                <a:cs typeface="Aptos"/>
              </a:rPr>
              <a:t>Q4 02:13  |  KC ball  |  3rd &amp; 6  |  Own 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20FAC-0646-420F-B7D0-19CE43DC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3276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28598-F1CD-43E3-A60F-4A70AF61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Next-play prediction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0AAED-4666-4F5C-A18B-E8D3AEAB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D5862-DFBB-46CD-A57B-54B32C8B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2905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64%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AA10E-8004-425E-9E67-33690221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E6F2"/>
                </a:solidFill>
                <a:latin typeface="Aptos"/>
                <a:ea typeface="Aptos"/>
                <a:cs typeface="Aptos"/>
              </a:rPr>
              <a:t>run 4 yd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1BB16-2E7F-4FF9-9A78-CCDEB44C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577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FA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FAE5"/>
                </a:solidFill>
                <a:latin typeface="Aptos"/>
                <a:ea typeface="Aptos"/>
                <a:cs typeface="Aptos"/>
              </a:rPr>
              <a:t>hit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53CBA-647D-4C9B-836F-CE89411A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E6F2"/>
                </a:solidFill>
                <a:latin typeface="Aptos"/>
                <a:ea typeface="Aptos"/>
                <a:cs typeface="Aptos"/>
              </a:rPr>
              <a:t>pass incomplete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1308C-CF67-41E1-962B-50861FDA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FA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FAE5"/>
                </a:solidFill>
                <a:latin typeface="Aptos"/>
                <a:ea typeface="Aptos"/>
                <a:cs typeface="Aptos"/>
              </a:rPr>
              <a:t>hit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7D457-2BEF-4C3B-9E7A-D7B9088B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E6F2"/>
                </a:solidFill>
                <a:latin typeface="Aptos"/>
                <a:ea typeface="Aptos"/>
                <a:cs typeface="Aptos"/>
              </a:rPr>
              <a:t>punt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DB548-8591-457D-9CF8-69A4FCC0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149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B7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B7AD"/>
                </a:solidFill>
                <a:latin typeface="Aptos"/>
                <a:ea typeface="Aptos"/>
                <a:cs typeface="Aptos"/>
              </a:rPr>
              <a:t>miss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5929A-D9EF-486E-BC4B-4F4C9649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DE6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DE6F2"/>
                </a:solidFill>
                <a:latin typeface="Aptos"/>
                <a:ea typeface="Aptos"/>
                <a:cs typeface="Aptos"/>
              </a:rPr>
              <a:t>pass 11 yd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4EC06-E981-4460-8A25-83613886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43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FA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DFAE5"/>
                </a:solidFill>
                <a:latin typeface="Aptos"/>
                <a:ea typeface="Aptos"/>
                <a:cs typeface="Aptos"/>
              </a:rPr>
              <a:t>hit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4826C-3F5E-4A5F-AB9B-AB69F220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5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B6B5C-344A-4274-9915-E48CD0CC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Active games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6C159-9CA0-4864-9260-4C418DBE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small list with status and possession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DCBF34-8101-4065-932C-F0AA1961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00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A4C2F-658F-4257-9F5C-DC36D731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Current prediction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A1926A-E00B-41F7-B2E9-097FE4D3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probabilities, selected model, confidence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D394D7-6DFC-4B7D-97A7-BC75FA9F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9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D9924A-62DD-4DFC-B7A5-B8C685E3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Prediction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C8C69-6367-4747-ADF9-1EA0EB59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previous predictions vs actual play type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E3AF2-39C3-481C-A5EC-F3D683F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863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13C025-89BF-4FB7-9A70-F6CA644A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Accuracy 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01B014-A7A0-4FD6-9123-D7BC0635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live-game hit rate and class breakdown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01BBA6-B604-4D50-8765-DEE239FC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83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8397"/>
                </a:solidFill>
                <a:latin typeface="Aptos"/>
                <a:ea typeface="Aptos"/>
                <a:cs typeface="Aptos"/>
              </a:rPr>
              <a:t>NFL PBP Predictor live-data plan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2E03DE-21CA-446C-9B84-BECB7EBF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30213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8D2B6F-603A-482A-8312-58DEBF4C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AD72F-AE1B-4E79-98E9-CD532AE5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9C596-0985-4F52-A47F-3823DC83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EACA8-12AA-44D5-8F45-C1A1EF9F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373FF-627C-4ADA-A66C-89EE3F98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Build manual live mode first, then plug in a paid/replay provider behind an adapter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425E6-8267-4B00-B6A8-87D8612B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67A"/>
                </a:solidFill>
                <a:latin typeface="Aptos"/>
                <a:ea typeface="Aptos"/>
                <a:cs typeface="Aptos"/>
              </a:rPr>
              <a:t>That path gives you a working product shape before committing to data licensing and vendor-specific schemas.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5C09C-AECA-470D-867A-A1DF9BF8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257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E8"/>
          </a:solidFill>
          <a:ln xmlns:a="http://schemas.openxmlformats.org/drawingml/2006/main" w="9525">
            <a:solidFill>
              <a:srgbClr val="C8DB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97769-CBE5-46CB-8597-2B17237E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A994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A994E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EBA96-8758-4A36-A11B-5772820E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Refactor prediction into a service and add manual live state input. This proves the pre-snap contract.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DC62F-711B-4F6A-9E85-12F8BA85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3257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BB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7308C-DE2B-4BE2-80D4-AD85223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5B07D-CC13-4EB8-9B82-2772D0DB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385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provider replay/trial data to test ingestion, dedupe, corrections, and live-to-training feature alignment.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348BE-1E44-480E-8573-A29B399A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3257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BCD2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DC293-A9CC-4947-A22C-AA771FCB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77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577A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9EF98-9D58-48E0-8E30-5AB1EB12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385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Move to Sportradar or paid SportsDataIO if reliability, redistribution rights, and production uptime matter.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23194-1D65-44FE-8A9B-6F46EA3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43500"/>
            <a:ext cx="9563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Key watch item: live predictions should be for the next snap after the previous play is logged, unless your provider exposes verified pre-snap state early enough.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D9A47-051C-428F-A9B4-061EC767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849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7B8495"/>
                </a:solidFill>
                <a:latin typeface="Aptos"/>
                <a:ea typeface="Aptos"/>
                <a:cs typeface="Aptos"/>
              </a:rPr>
              <a:t>Reference links in speaker notes / deck source discussion: Sportradar NFL PBP, SportsDataIO real-time timing and NFL workflow, nflverse/nflfastR docs.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269D8-C01D-4805-B35F-13FAAACE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839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88397"/>
                </a:solidFill>
                <a:latin typeface="Aptos"/>
                <a:ea typeface="Aptos"/>
                <a:cs typeface="Aptos"/>
              </a:rPr>
              <a:t>NFL PBP Predictor live-data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86344-3100-4E34-A609-91007E5A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6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6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4766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2026-05-05T20:31:05.7020000Z</dcterms:created>
  <dcterms:modified xsi:type="dcterms:W3CDTF">2026-05-05T20:31:05.7020000Z</dcterms:modified>
</coreProperties>
</file>